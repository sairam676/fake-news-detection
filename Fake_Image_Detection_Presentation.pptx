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1945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MAJOR PROJECT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Fake Image Detection</a:t>
            </a:r>
          </a:p>
          <a:p>
            <a:pPr>
              <a:spcBef>
                <a:spcPts val="800"/>
              </a:spcBef>
              <a:defRPr sz="1700">
                <a:solidFill>
                  <a:srgbClr val="94A3B8"/>
                </a:solidFill>
                <a:latin typeface="Segoe UI"/>
              </a:defRPr>
            </a:pPr>
            <a:r>
              <a:t>Multi-Feature Fusion Framework for Identifying AI-Generated &amp; Manipulated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1206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PROJECT DETAILS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Presented by:</a:t>
            </a:r>
            <a:br/>
            <a:r>
              <a:t>Your Name / Team Members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Department of Computer Science and Engineering</a:t>
            </a:r>
            <a:br/>
            <a:r>
              <a:t>National Institute of Technology Patna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SUPERVISION &amp; INSTITUTION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Project Guide:</a:t>
            </a:r>
            <a:br/>
            <a:r>
              <a:t>[Guide Name]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NIT Patna • Academic Year 2025–2026</a:t>
            </a:r>
            <a:br/>
            <a:r>
              <a:t>Major Project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Motivation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The growing threat of AI-generated content and misinformation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916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Core concepts, problem domain, and detection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Literature Review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Existing paradigms: CNNs, frequency, DINOv2 &amp; noise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2918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Research Gap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Limitations of single-feature and isolated approaches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089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32918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461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Problem &amp; Objectives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Goals of building a robust multi-feature detector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1089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32918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461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Proposed Method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Multi-branch architecture fusing 4 complementary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091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8920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463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Experimental Results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Benchmark evaluation on CIFAKE &amp; GenImage datasets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7091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48920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8463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Conclusion &amp; Future Work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Summary of findings and future research roadmap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7091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4892040"/>
            <a:ext cx="50292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846320"/>
            <a:ext cx="2423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References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Key academic literature and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CONTEXT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Motivation: Why Fake Image Detection?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54864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94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Hyper-Realistic AI Imagery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Modern generative models (Diffusion, GANs) produce visual fidelity virtually indistinguishable from real photography to human eyes.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1737360"/>
            <a:ext cx="54864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2194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Misinformation &amp; Disinformation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AI-generated fake images spread virally across news media and social platforms, misleading the public and distorting real-world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4864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2194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Scams &amp; Identity Manipulation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Synthetic images enable financial fraud, unauthorized identity manipulation, non-consensual media, and security impersonation.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0876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1737360"/>
            <a:ext cx="54864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40280"/>
            <a:ext cx="2194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Automated Scalable Defense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Manual verification cannot keep pace with generative AI. We need an automated, highly accurate system to distinguish Real vs Fake media.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725912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VIVA EXPLANATION</a:t>
            </a:r>
          </a:p>
          <a:p>
            <a:pPr>
              <a:spcBef>
                <a:spcPts val="400"/>
              </a:spcBef>
              <a:defRPr sz="1300" i="1">
                <a:solidFill>
                  <a:srgbClr val="0F172A"/>
                </a:solidFill>
                <a:latin typeface="Segoe UI"/>
              </a:defRPr>
            </a:pPr>
            <a:r>
              <a:t>“Nowadays, AI-generated images are becoming very realistic. A normal person may not be able to identify whether an image is real or generated by AI. So our project focuses on automatically detecting fake images.”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Introduction: What is Fake Image Detection?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CORE CONCEPTS &amp; DEFINITION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  <a:latin typeface="Segoe UI"/>
              </a:defRPr>
            </a:pPr>
            <a:r>
              <a:t>• AI-Generated vs Real Images: </a:t>
            </a:r>
            <a:r>
              <a:rPr b="0">
                <a:solidFill>
                  <a:srgbClr val="64748B"/>
                </a:solidFill>
              </a:rPr>
              <a:t>Fake images are synthesized from text prompts (e.g. Midjourney, Stable Diffusion, DALL-E) or digitally altered by GANs.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  <a:latin typeface="Segoe UI"/>
              </a:defRPr>
            </a:pPr>
            <a:r>
              <a:t>• Hidden Machine Artifacts: </a:t>
            </a:r>
            <a:r>
              <a:rPr b="0">
                <a:solidFill>
                  <a:srgbClr val="64748B"/>
                </a:solidFill>
              </a:rPr>
              <a:t>Even when photorealistic to humans, AI images carry subtle statistical footprints across frequency domains, textures, and noise residuals.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  <a:latin typeface="Segoe UI"/>
              </a:defRPr>
            </a:pPr>
            <a:r>
              <a:t>• Binary Classification Objective: </a:t>
            </a:r>
            <a:r>
              <a:rPr b="0">
                <a:solidFill>
                  <a:srgbClr val="64748B"/>
                </a:solidFill>
              </a:rPr>
              <a:t>The system takes an unconstrained input image, processes high &amp; low level signals, and outputs a decisive verdict: REAL or FAKE.</a:t>
            </a:r>
          </a:p>
          <a:p>
            <a:pPr>
              <a:spcBef>
                <a:spcPts val="800"/>
              </a:spcBef>
              <a:defRPr b="1" sz="1150">
                <a:solidFill>
                  <a:srgbClr val="0F172A"/>
                </a:solidFill>
                <a:latin typeface="Segoe UI"/>
              </a:defRPr>
            </a:pPr>
            <a:r>
              <a:t>• Multi-Domain Synergy: </a:t>
            </a:r>
            <a:r>
              <a:rPr b="0">
                <a:solidFill>
                  <a:srgbClr val="64748B"/>
                </a:solidFill>
              </a:rPr>
              <a:t>AI generation introduces distinct artifacts in semantics, texture patterns, frequency spectra, and sensor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SIMPLE DETECTION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466344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Input Image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Raw photograph or digital artwork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466344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Feature Extraction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Semantics, Texture, Frequency, Residuals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023360"/>
            <a:ext cx="466344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Classification Head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Multi-layer perceptron with cross-entropy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029200"/>
            <a:ext cx="4663440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Decision Output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Predicted Label: REAL (0) or FAKE 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Literature Review: Existing Approaches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591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050791"/>
              </a:tblGrid>
              <a:tr h="6217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Main Idea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Limitation / Bottleneck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CNN / ResNet Baselines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Learns spatial pixel artifacts directly end-to-end using standard convolution layers.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Poor generalization; vulnerable to compression and fails on unseen AI generators.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Frequency Analysis (FFT / DCT)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Transforms image to frequency spectra to reveal grid artifacts &amp; high-frequency anomalies.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Ignores high-level contextual semantics; vulnerable to severe low-pass filtering.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Foundation Models (DINOv2)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Extracts robust, self-supervised semantic visual representations.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Primarily focuses on high-level semantics, missing low-level forensic generator fingerprints.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Noise-Based Residuals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Analyzes sensor noise patterns, pixel gradients, and low-bit quantization residuals.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Noise fingerprints alone lack semantic context, causing false alarms on compressed imagery.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10725912" cy="1417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KEY LITERATURE OBSERVATION &amp; MOTIVATION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Different detection methods capture fundamentally distinct aspects of an image (semantics vs texture vs frequency vs noise). No single modality is universally sufficient — which motivates our strategy of Multi-Feature Fusion.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Research Gaps: Problems with Existing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48640" cy="3200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73352"/>
            <a:ext cx="42062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Single-Feature Dependency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Most prior systems rely exclusively on either spatial RGB features, frequency representations, or noise analysis alone, leaving blind 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48640" cy="3200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73352"/>
            <a:ext cx="42062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Poor Cross-Generator Generalization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Detectors trained strictly on one generator family (e.g. ProGAN) experience massive accuracy drops when evaluated on modern Diffusion models (Midjourney, SD).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548640" cy="3200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64992"/>
            <a:ext cx="42062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Sensitivity to Post-Processing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Standard image operations like JPEG compression, blurring, and downsampling destroy subtle high-frequency artifacts, disabling brittle detectors.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0040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3383280"/>
            <a:ext cx="548640" cy="3200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364992"/>
            <a:ext cx="42062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Forced Binary Misattribution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Existing closed-world classifiers force novel synthesis patterns into known generator classes, failing to handle unknown or hybrid synthesis pipelines.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725912" cy="1234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OUR CORE SOLUTION IDEA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“Instead of relying on a single vulnerable signal, fuse semantic visual features, spatial texture, Fourier frequency spectra, and low-bit noise patterns into an integrated multi-modal representation.”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GOALS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1508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“To develop a robust automated system that can accurately identify whether an image is real or AI-generated by combining complementary semantic, texture, frequency, and noise features.”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2084831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2084831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OBJ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1. Accurate Classification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Accurately classify Real vs Fake images with high precision and low false positives.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3246120"/>
            <a:ext cx="2084831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9504" y="3246120"/>
            <a:ext cx="2084831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OBJ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37490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2. Multi-Feature Extraction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Extract DINOv2 vision embeddings, Gram matrix style textures, FFT frequency spectra, and noise residuals.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3246120"/>
            <a:ext cx="2084831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8" y="3246120"/>
            <a:ext cx="2084831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OBJ 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37490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3. Comprehensive Benchmarking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Evaluate baseline CNNs (ResNet-18) against isolated and fused feature representations.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3246120"/>
            <a:ext cx="2084831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5472" y="3246120"/>
            <a:ext cx="2084831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OBJ #4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37490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4. Synergistic Fusion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Demonstrate via ablation studies that multi-feature combination yields superior detection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63456" y="3246120"/>
            <a:ext cx="2084831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456" y="3246120"/>
            <a:ext cx="2084831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OBJ #5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37490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5. Cross-Domain Testing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Validate generalization across diverse generator architectures on CIFAKE and GenImage benchmarks.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Proposed Method: Multi-Branch Feature Fusion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4864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END-TO-END PIPELINE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057400"/>
            <a:ext cx="27432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 Image (RGB)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697480"/>
            <a:ext cx="274320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Preprocessing &amp; Normalization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1143000" cy="5943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DINOv2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291840"/>
            <a:ext cx="1143000" cy="5943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Style/Texture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291840"/>
            <a:ext cx="1143000" cy="5943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291840"/>
            <a:ext cx="1143000" cy="5943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Noise Residual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069080"/>
            <a:ext cx="365760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Concatenated Feature Vector [Z]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709160"/>
            <a:ext cx="274320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MLP Classifier / Dense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5349240"/>
            <a:ext cx="27432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PREDICTION: REAL or FAKE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50876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508760"/>
            <a:ext cx="109728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581912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1. DINOv2 Feature Branch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Understands semantic context &amp; global structural layout through vision transformer representations.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42316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423160"/>
            <a:ext cx="109728" cy="8046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496312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2. Style / Texture Branch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Captures Gram matrix correlations and surface synthesis patterns characteristic of neural decoders.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33756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109728" cy="80467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410712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3. Frequency (FFT) Branch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Uncovers periodic grid artifacts and high-frequency discrepancies invisible in the spatial domain.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251960"/>
            <a:ext cx="4937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251960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325112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4. Low-Bit Noise Residual Branch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Analyzes sub-pixel noise distribution, sensor fingerprint absence, and quantization anomalies.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303520"/>
            <a:ext cx="493776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SIMPLE VIVA SUMMARY</a:t>
            </a:r>
          </a:p>
          <a:p>
            <a:pPr>
              <a:defRPr sz="1100" i="1">
                <a:solidFill>
                  <a:srgbClr val="0F172A"/>
                </a:solidFill>
                <a:latin typeface="Segoe UI"/>
              </a:defRPr>
            </a:pPr>
            <a:r>
              <a:t>“Instead of depending on only one feature, we extract multiple complementary signals, combine them into one unified vector, and classify with high accuracy.”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COMPARATIVE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Models Evaluated: Systematic Feature Ablation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7315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91840"/>
                <a:gridCol w="1463040"/>
              </a:tblGrid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Representation Used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 in Study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ResNet-18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Raw pixel spatial convolution end-to-end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Standard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DINOv2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High-level ViT foundation model embeddings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Semantic Baseline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DINOv2 + Style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Semantic embeddings + Gram texture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Texture Ablation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DINOv2 + Style + Frequency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Semantics + Textures + FFT spectral analysis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Spectral Ablation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Proposed Model (Full Fusion)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DINOv2 + Style + FFT Frequency + Noise Residuals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Full Proposed System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508760"/>
            <a:ext cx="31363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RESEARCH QUESTION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“Does systematically adding complementary forensic features monotonically improve detector accuracy and generalization?”</a:t>
            </a:r>
          </a:p>
          <a:p>
            <a:pPr>
              <a:spcBef>
                <a:spcPts val="1400"/>
              </a:spcBef>
              <a:defRPr sz="1200" b="1">
                <a:solidFill>
                  <a:srgbClr val="2563EB"/>
                </a:solidFill>
                <a:latin typeface="Segoe UI"/>
              </a:defRPr>
            </a:pPr>
            <a:r>
              <a:t>Ablation Highlights: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✔ Isolate individual branch contributions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✔ Quantify spectral vs noise impact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✔ Verify synergy in proposed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EVALUATION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Experimental Results: CIFAKE Benchmark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Evaluated 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</a:defRPr>
                      </a:pPr>
                      <a:r>
                        <a:t>ResNet-18 (CNN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</a:defRPr>
                      </a:pPr>
                      <a:r>
                        <a:t>DINOv2 (Semantic ViT)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92.75%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</a:defRPr>
                      </a:pPr>
                      <a:r>
                        <a:t>DINOv2 +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93.00%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</a:defRPr>
                      </a:pPr>
                      <a:r>
                        <a:t>DINOv2 + Style + Frequency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92.00%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Proposed Model (All Features)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66360"/>
            <a:ext cx="53035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BENCHMARK SUMMARY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Evaluated on the standardized CIFAKE test partition containing 20,000 real vs AI synthetic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148072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PROPOSED MODEL TOP ACCURACY</a:t>
            </a:r>
          </a:p>
          <a:p>
            <a:pPr>
              <a:spcBef>
                <a:spcPts val="200"/>
              </a:spcBef>
              <a:defRPr sz="4600" b="1">
                <a:solidFill>
                  <a:srgbClr val="FFFFFF"/>
                </a:solidFill>
              </a:defRPr>
            </a:pPr>
            <a:r>
              <a:t>94.00%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+6.50% improvement over standard ResNet-18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03320"/>
            <a:ext cx="5148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KEY TAKEAWAYS &amp; FINDINGS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✔ ResNet-18 baseline provides solid initial accuracy (87.50%).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✔ DINOv2 foundation features outperform basic CNNs by +5.25%.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✔ Integrating Style/Texture features further sharpens detection.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</a:defRPr>
            </a:pPr>
            <a:r>
              <a:t>✔ Full 4-branch fusion achieves the peak 94.00% benchmark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GENERALIZATION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GenImage Results: Cross-Generator Generalization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GENERATORS TESTED IN BENCHMARK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Real Images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Ground truth authentic camera photographs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BigGAN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High-fidelity generative adversarial synthesis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Midjourney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State-of-the-art commercial diffusion generator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Stable Diffusion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Latent text-to-image open-source diffusion model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Wukong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Large-scale multimodal generative vision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39512" cy="1737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STANDARD RESNET-18 BASELINE</a:t>
            </a:r>
          </a:p>
          <a:p>
            <a:pPr>
              <a:defRPr sz="2800" b="1">
                <a:solidFill>
                  <a:srgbClr val="B91C1C"/>
                </a:solidFill>
              </a:defRPr>
            </a:pPr>
            <a:r>
              <a:t>81.25% Accuracy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Drops significantly when tested against unseen diffusion architectures.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239512" cy="28346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PROPOSED MULTI-FEATURE MODEL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93.75% – 96.88%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MAIN GENERALIZATION OBSERVATION:</a:t>
            </a:r>
          </a:p>
          <a:p>
            <a:pPr>
              <a:spcBef>
                <a:spcPts val="300"/>
              </a:spcBef>
              <a:defRPr sz="1150" i="1">
                <a:solidFill>
                  <a:srgbClr val="0F172A"/>
                </a:solidFill>
              </a:defRPr>
            </a:pPr>
            <a:r>
              <a:t>“The proposed multi-feature fusion model maintains exceptional cross-generator robustness, reliably detecting fake images across both GANs and modern diffusion models without generator-specific retraining.”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Conclusion &amp; Key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217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SUMMARY OF ACHIEVEMENTS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✔ Automated Detection System: </a:t>
            </a:r>
            <a:r>
              <a:rPr b="0">
                <a:solidFill>
                  <a:srgbClr val="64748B"/>
                </a:solidFill>
              </a:rPr>
              <a:t>Successfully engineered a robust pipeline for detecting AI-generated synthetic imagery.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✔ Multi-Domain Feature Synergy: </a:t>
            </a:r>
            <a:r>
              <a:rPr b="0">
                <a:solidFill>
                  <a:srgbClr val="64748B"/>
                </a:solidFill>
              </a:rPr>
              <a:t>Demonstrated that combining semantic, texture, spectral, and noise features strictly outperforms single-modality baselines.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✔ Foundation Model Power: </a:t>
            </a:r>
            <a:r>
              <a:rPr b="0">
                <a:solidFill>
                  <a:srgbClr val="64748B"/>
                </a:solidFill>
              </a:rPr>
              <a:t>DINOv2 representations provide rich invariant representations resistant to common generator variations.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✔ Peak CIFAKE Benchmark Accuracy: </a:t>
            </a:r>
            <a:r>
              <a:rPr b="0">
                <a:solidFill>
                  <a:srgbClr val="64748B"/>
                </a:solidFill>
              </a:rPr>
              <a:t>Attained a state-of-the-art 94.00% classification accuracy on the CIFAKE dataset (+6.5% over CNN baseline).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✔ Cross-Generator Generalization: </a:t>
            </a:r>
            <a:r>
              <a:rPr b="0">
                <a:solidFill>
                  <a:srgbClr val="64748B"/>
                </a:solidFill>
              </a:rPr>
              <a:t>Delivered consistent 93.75%–96.88% performance on diverse GenImage benchmarks including Midjourney and Stable Diffusion.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08760"/>
            <a:ext cx="4233672" cy="4754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CORE TAKEAWAY</a:t>
            </a:r>
          </a:p>
          <a:p>
            <a:pPr>
              <a:spcBef>
                <a:spcPts val="2000"/>
              </a:spcBef>
              <a:defRPr sz="2000" b="1">
                <a:solidFill>
                  <a:srgbClr val="FFFFFF"/>
                </a:solidFill>
              </a:defRPr>
            </a:pPr>
            <a:r>
              <a:t>“Combining different types of image features significantly improves fake image detection and generalization across AI generators.”</a:t>
            </a:r>
          </a:p>
          <a:p>
            <a:pPr>
              <a:spcBef>
                <a:spcPts val="3000"/>
              </a:spcBef>
              <a:defRPr sz="1400">
                <a:solidFill>
                  <a:srgbClr val="BFDBFE"/>
                </a:solidFill>
              </a:defRPr>
            </a:pPr>
            <a:r>
              <a:t>94% Benchmark Accuracy</a:t>
            </a:r>
            <a:br/>
            <a:r>
              <a:t>Robust Multi-Feature Fusion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Future Work: Research &amp; Engineering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73352"/>
            <a:ext cx="54864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1848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Expanded Benchmark Datasets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Evaluate the system across larger, evolving datasets (e.g. SynthWild, DiffusionDB) and next-gen generative models (FLUX, Sora).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633472"/>
            <a:ext cx="54864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860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Social Media Robustness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Incorporate data augmentation simulating lossy JPEG compression, resizing, and platform re-encoding artifacts common on WhatsApp/X.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93592"/>
            <a:ext cx="54864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Dynamic Feature Weighting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Implement attention-based gating mechanisms to adaptively weight feature branches depending on image content and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553712"/>
            <a:ext cx="54864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9884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Production Deployment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Optimize model latency via TensorRT quantization for lightweight browser extensions and real-time social platform moderation APIs.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513832"/>
            <a:ext cx="54864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589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Extension to Video Forensics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Extend temporal feature extraction to detect Deepfake videos, AI face swaps, and generative video clips.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Research Publications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PROJECT DISSEMINATION STATUS</a:t>
            </a:r>
          </a:p>
          <a:p>
            <a:pPr>
              <a:spcBef>
                <a:spcPts val="2000"/>
              </a:spcBef>
              <a:defRPr sz="2400" b="1">
                <a:solidFill>
                  <a:srgbClr val="0F172A"/>
                </a:solidFill>
              </a:defRPr>
            </a:pPr>
            <a:r>
              <a:t>No publications yet.</a:t>
            </a:r>
          </a:p>
          <a:p>
            <a:pPr>
              <a:spcBef>
                <a:spcPts val="1500"/>
              </a:spcBef>
              <a:defRPr sz="1300">
                <a:solidFill>
                  <a:srgbClr val="64748B"/>
                </a:solidFill>
              </a:defRPr>
            </a:pPr>
            <a:r>
              <a:t>Manuscript preparation is currently underway targeting IEEE / Springer computer vision and multimedia forensics conferences/journals based on the CIFAKE &amp; GenImage benchmark experimental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References &amp; Academic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73352"/>
            <a:ext cx="36576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97840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Wang et al. (CVPR 2020) — CNN-Generated Images are Surprisingly Easy to Spot... for Now.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Demonstrated that CNN-generated images share common systematic artifacts detectable by linear classifiers.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633472"/>
            <a:ext cx="36576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60320"/>
            <a:ext cx="97840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Oquab et al. (arXiv 2023) — DINOv2: Learning Robust Visual Features without Supervision.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Introduced foundation ViT representations exhibiting powerful generalization and semantic feature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93592"/>
            <a:ext cx="36576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20440"/>
            <a:ext cx="97840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Frank et al. (ICML 2020) — Leveraging Frequency Analysis for Deep Fake Image Recognition.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Analyzed severe artifacts in the frequency domain caused by up-sampling in GAN generator architectures.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553712"/>
            <a:ext cx="36576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97840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Bird &amp; Lotfi (Data in Brief 2024) — CIFAKE: Image Classification and Explainable Identification of AI-Generated Synthetic Images.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Standardized benchmark dataset comparing authentic real photos with AI-generated synthetic counterparts.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513832"/>
            <a:ext cx="36576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[5]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40680"/>
            <a:ext cx="97840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Zhu et al. (NeurIPS 2023) — GenImage: A Large-Scale Dataset for General AI-Generated Image Detection and Attribution.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Benchmark evaluating cross-generator robustness across BigGAN, Midjourney, Stable Diffusion, and Wukong.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97112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MAJOR PROJECT PRESENTATION • CSE NIT PATNA</a:t>
            </a:r>
          </a:p>
          <a:p>
            <a:pPr algn="ctr">
              <a:spcBef>
                <a:spcPts val="1600"/>
              </a:spcBef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2200">
                <a:solidFill>
                  <a:srgbClr val="93C5FD"/>
                </a:solidFill>
                <a:latin typeface="Segoe UI"/>
              </a:defRPr>
            </a:pPr>
            <a:r>
              <a:t>Questions &amp; Discussion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Fake Image Detection System | Academic Year 2025–2026</a:t>
            </a:r>
            <a:br/>
            <a:r>
              <a:t>National Institute of Technology Patna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