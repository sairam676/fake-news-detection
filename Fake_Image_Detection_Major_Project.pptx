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ram Devarasetty" userId="df2bdfb82f62036c" providerId="LiveId" clId="{4017092E-1C09-43E3-A222-174C14BD744B}"/>
    <pc:docChg chg="undo custSel modSld">
      <pc:chgData name="Sairam Devarasetty" userId="df2bdfb82f62036c" providerId="LiveId" clId="{4017092E-1C09-43E3-A222-174C14BD744B}" dt="2026-09-14T17:08:15.229" v="4" actId="255"/>
      <pc:docMkLst>
        <pc:docMk/>
      </pc:docMkLst>
      <pc:sldChg chg="modSp mod">
        <pc:chgData name="Sairam Devarasetty" userId="df2bdfb82f62036c" providerId="LiveId" clId="{4017092E-1C09-43E3-A222-174C14BD744B}" dt="2026-09-14T17:07:55.688" v="1" actId="255"/>
        <pc:sldMkLst>
          <pc:docMk/>
          <pc:sldMk cId="0" sldId="258"/>
        </pc:sldMkLst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7:55.688" v="1" actId="255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Sairam Devarasetty" userId="df2bdfb82f62036c" providerId="LiveId" clId="{4017092E-1C09-43E3-A222-174C14BD744B}" dt="2026-09-14T17:08:15.229" v="4" actId="255"/>
        <pc:sldMkLst>
          <pc:docMk/>
          <pc:sldMk cId="0" sldId="259"/>
        </pc:sldMkLst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iram Devarasetty" userId="df2bdfb82f62036c" providerId="LiveId" clId="{4017092E-1C09-43E3-A222-174C14BD744B}" dt="2026-09-14T17:08:15.229" v="4" actId="255"/>
          <ac:spMkLst>
            <pc:docMk/>
            <pc:sldMk cId="0" sldId="259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MAJOR PROJECT PRESENTATION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AI-Generated Fake Image Detection &amp;</a:t>
            </a:r>
            <a:br/>
            <a:r>
              <a:t>Generator Attribution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Comparing CNN Baseline (ResNet-18) with Multi-Domain Forensic Feature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10360152" cy="1737360"/>
          </a:xfrm>
          <a:prstGeom prst="roundRect">
            <a:avLst/>
          </a:prstGeom>
          <a:solidFill>
            <a:srgbClr val="1E3A6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BFDBFE"/>
                </a:solidFill>
              </a:defRPr>
            </a:pPr>
            <a:r>
              <a:t>Project Team &amp; Guide Details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Student Name(s): [Your Name / Team Members]      • Department: Computer Science &amp; Engineering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• Guided By: [Supervisor / Professor Name]              • Academic Year: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ROADMAP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1.  Motivation &amp; Introduction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Why detecting AI fakes is crucial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166420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2.  Literature Review &amp; Gaps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Limitations of current CNN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3.  Problem &amp; Objectives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Goals of our major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8529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4.  Proposed Method &amp; Flowchart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4-branch feature extraction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5.  Experimental Setup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ResNet-18 baseline vs 5 feature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404164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6.  Results &amp; Key Findings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Benchmark accuracy &amp; attribution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7.  Conclusion &amp; Future Scope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Summary of work &amp; next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12064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523036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8.  References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Key academic literature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7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sz="2400"/>
              <a:t>WHY IT MATTERS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rPr sz="2400"/>
              <a:t>Motivation Behind the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66344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2400"/>
              <a:t>✔  Hyper-Realistic AI Images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rPr sz="2400"/>
              <a:t>Diffusion &amp; GAN models generate fake images that human eyes cannot spot.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66344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rPr sz="2400"/>
              <a:t>✔  Spread of Misinformation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rPr sz="2400"/>
              <a:t>Fake imagery threatens digital trust, journalism, identity, and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66344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rPr sz="2400"/>
              <a:t>✔  Standard CNN Limitations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rPr sz="2400"/>
              <a:t>CNNs (like ResNet-18) overfit to raw pixels and fail on unseen generators.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66344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rPr sz="2400"/>
              <a:t>✔  Need for Attribution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rPr sz="2400"/>
              <a:t>Crucial to identify not just IF an image is fake, but WHICH model created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54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sz="2000"/>
              <a:t>CORE CONCEPTS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rPr sz="2000"/>
              <a:t>Introduction: Invisible Signatures in AI Images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1033272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sz="2000"/>
              <a:t>1. Semantic Inconsistencies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rPr sz="2000"/>
              <a:t>AI models often struggle with complex anatomy, physics, and symmetry (captured via DINOv2).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914400" y="2852928"/>
            <a:ext cx="1033272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sz="2000" dirty="0"/>
              <a:t>2. Texture &amp; Style Patterns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rPr sz="2000" dirty="0"/>
              <a:t>Generative </a:t>
            </a:r>
            <a:r>
              <a:rPr sz="2000" dirty="0" err="1"/>
              <a:t>upsamplers</a:t>
            </a:r>
            <a:r>
              <a:rPr sz="2000" dirty="0"/>
              <a:t> leave repetitive color channel correlations (captured via Style Gram matrices).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33272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sz="2000"/>
              <a:t>3. Frequency Grid Artifacts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rPr sz="2000"/>
              <a:t>Latent decoders create periodic frequency anomalies (captured via 2D-FFT spectra).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1033272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sz="2000"/>
              <a:t>4. Camera Sensor Noise Absence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rPr sz="2000"/>
              <a:t>Real cameras leave sensor noise (PRNU), whereas AI images lack natural sensor residuals.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BACKGROUND &amp; RESEARCH GAPS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Literature Review &amp; Identified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Literature Review (Key Works):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</a:rPr>
              <a:t>• Wang et al. (CVPR 2020): </a:t>
            </a:r>
            <a:r>
              <a:rPr sz="1400">
                <a:solidFill>
                  <a:srgbClr val="1E293B"/>
                </a:solidFill>
              </a:rPr>
              <a:t>Showed CNNs trained on ProGAN can detect fakes, but fail on diffusion models.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</a:rPr>
              <a:t>• Frank et al. (ICML 2020): </a:t>
            </a:r>
            <a:r>
              <a:rPr sz="1400">
                <a:solidFill>
                  <a:srgbClr val="1E293B"/>
                </a:solidFill>
              </a:rPr>
              <a:t>Discovered frequency grid artifacts in generator upsampling layers using 2D-FFT.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563EB"/>
                </a:solidFill>
              </a:rPr>
              <a:t>• DINOv2 (Oquab et al. 2023): </a:t>
            </a:r>
            <a:r>
              <a:rPr sz="1400">
                <a:solidFill>
                  <a:srgbClr val="1E293B"/>
                </a:solidFill>
              </a:rPr>
              <a:t>Self-supervised ViT provides highly transferable semantic visual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Identified Research Gaps: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DC2626"/>
                </a:solidFill>
              </a:rPr>
              <a:t>✖ Single-Domain Brittleness: </a:t>
            </a:r>
            <a:r>
              <a:rPr sz="1400">
                <a:solidFill>
                  <a:srgbClr val="1E293B"/>
                </a:solidFill>
              </a:rPr>
              <a:t>Relying only on pixels or only on FFT fails when images are compressed or resized.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DC2626"/>
                </a:solidFill>
              </a:rPr>
              <a:t>✖ Generator Domain Shift: </a:t>
            </a:r>
            <a:r>
              <a:rPr sz="1400">
                <a:solidFill>
                  <a:srgbClr val="1E293B"/>
                </a:solidFill>
              </a:rPr>
              <a:t>Detectors trained on GANs break down on modern Diffusion models (Midjourney, SD).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DC2626"/>
                </a:solidFill>
              </a:rPr>
              <a:t>✖ Closed-Set Trap: </a:t>
            </a:r>
            <a:r>
              <a:rPr sz="1400">
                <a:solidFill>
                  <a:srgbClr val="1E293B"/>
                </a:solidFill>
              </a:rPr>
              <a:t>Existing models cannot identify unseen or unknown new AI generators.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GOALS &amp; SCOPE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Problem Statement:</a:t>
            </a:r>
          </a:p>
          <a:p>
            <a:pPr>
              <a:spcBef>
                <a:spcPts val="400"/>
              </a:spcBef>
              <a:defRPr sz="1500" b="1">
                <a:solidFill>
                  <a:srgbClr val="182B49"/>
                </a:solidFill>
              </a:defRPr>
            </a:pPr>
            <a:r>
              <a:t>Build a robust forensic system to accurately detect AI fake images and attribute them to their source generators by combining multi-domain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698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9"/>
                </a:solidFill>
              </a:defRPr>
            </a:pPr>
            <a:r>
              <a:t>Core Project Objectives: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2563EB"/>
                </a:solidFill>
              </a:rPr>
              <a:t>✔ 1. CNN Baseline: </a:t>
            </a:r>
            <a:r>
              <a:rPr sz="1450">
                <a:solidFill>
                  <a:srgbClr val="1E293B"/>
                </a:solidFill>
              </a:rPr>
              <a:t>Train ResNet-18 on raw RGB images as standard benchmark.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2563EB"/>
                </a:solidFill>
              </a:rPr>
              <a:t>✔ 2. Multi-Domain Feature Extraction: </a:t>
            </a:r>
            <a:r>
              <a:rPr sz="1450">
                <a:solidFill>
                  <a:srgbClr val="1E293B"/>
                </a:solidFill>
              </a:rPr>
              <a:t>Extract 4 features: DINOv2 (Semantic), Style Gram (Texture), 2D-FFT (Frequency), and Noise Residuals.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2563EB"/>
                </a:solidFill>
              </a:rPr>
              <a:t>✔ 3. Ablation Study: </a:t>
            </a:r>
            <a:r>
              <a:rPr sz="1450">
                <a:solidFill>
                  <a:srgbClr val="1E293B"/>
                </a:solidFill>
              </a:rPr>
              <a:t>Build and compare 5 feature-based models against ResNet-18.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2563EB"/>
                </a:solidFill>
              </a:rPr>
              <a:t>✔ 4. Open-Set Attribution: </a:t>
            </a:r>
            <a:r>
              <a:rPr sz="1450">
                <a:solidFill>
                  <a:srgbClr val="1E293B"/>
                </a:solidFill>
              </a:rPr>
              <a:t>Implement confidence thresholding to flag unknown new generators.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SIMPLE ARCHITECTURE PIPELINE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Proposed Method: System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18288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2B49"/>
                </a:solidFill>
              </a:defRPr>
            </a:pPr>
            <a:r>
              <a:t>STEP 1</a:t>
            </a:r>
            <a:br/>
            <a:r>
              <a:t>Input Image</a:t>
            </a:r>
          </a:p>
          <a:p>
            <a:pPr algn="ctr"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RGB Image</a:t>
            </a:r>
            <a:br/>
            <a:r>
              <a:t>(224 × 224)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51760" y="3566160"/>
            <a:ext cx="45720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2560320" cy="1051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6120" y="1645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DINOv2 ViT-S (384-d)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Spatial / Semantic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2560320" cy="1051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283464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Style Gram (64-d)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Texture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931920"/>
            <a:ext cx="2560320" cy="1051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40233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2D-FFT (64-d)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Frequency Grids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120640"/>
            <a:ext cx="2560320" cy="1051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52120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B49"/>
                </a:solidFill>
              </a:defRPr>
            </a:pPr>
            <a:r>
              <a:t>Noise Stats (64-d)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Sensor Residuals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3566160"/>
            <a:ext cx="45720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2651760"/>
            <a:ext cx="20116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STEP 3</a:t>
            </a:r>
            <a:br/>
            <a:r>
              <a:t>Feature Fusion</a:t>
            </a:r>
          </a:p>
          <a:p>
            <a:pPr algn="ctr"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Combined</a:t>
            </a:r>
            <a:br/>
            <a:r>
              <a:t>576-d Vector</a:t>
            </a:r>
            <a:br/>
            <a:br/>
            <a:r>
              <a:t>(Multi-Domain Signature)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20" y="3566160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52560" y="2468880"/>
            <a:ext cx="2377440" cy="2651760"/>
          </a:xfrm>
          <a:prstGeom prst="roundRect">
            <a:avLst/>
          </a:prstGeom>
          <a:solidFill>
            <a:srgbClr val="182B4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260604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STEP 4: Output</a:t>
            </a:r>
          </a:p>
          <a:p>
            <a:pPr>
              <a:spcBef>
                <a:spcPts val="600"/>
              </a:spcBef>
              <a:defRPr sz="1300" b="1">
                <a:solidFill>
                  <a:srgbClr val="93C5FD"/>
                </a:solidFill>
              </a:defRPr>
            </a:pPr>
            <a:r>
              <a:t>1. Real vs. Fake</a:t>
            </a:r>
            <a:br/>
            <a:r>
              <a:t>(Binary Decision)</a:t>
            </a:r>
          </a:p>
          <a:p>
            <a:pPr>
              <a:spcBef>
                <a:spcPts val="600"/>
              </a:spcBef>
              <a:defRPr sz="1300" b="1">
                <a:solidFill>
                  <a:srgbClr val="A7F3D0"/>
                </a:solidFill>
              </a:defRPr>
            </a:pPr>
            <a:r>
              <a:t>2. Generator Attribution</a:t>
            </a:r>
            <a:br/>
            <a:r>
              <a:t>(Midjourney, SD, BigGAN)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ABLATION DESIGN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Experimental Setup: 6 Models Evaluated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Features / Architecture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Ablation Purpose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B49"/>
                          </a:solidFill>
                        </a:defRPr>
                      </a:pPr>
                      <a:r>
                        <a:t>ResNet-18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Standard CNN on Raw 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512-d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Classic deep learning baseline (Wang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B49"/>
                          </a:solidFill>
                        </a:defRPr>
                      </a:pPr>
                      <a:r>
                        <a:t>Baseline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DINOv2 ViT-S CLS Token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384-d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Modern Vision Transformer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B49"/>
                          </a:solidFill>
                        </a:defRPr>
                      </a:pPr>
                      <a:r>
                        <a:t>Model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Low-Bit Noise Residuals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64-d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Test if pixel noise alone is enough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B49"/>
                          </a:solidFill>
                        </a:defRPr>
                      </a:pPr>
                      <a:r>
                        <a:t>Model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DINOv2 + Style Gram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448-d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Test adding texture &amp; color correlations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82B49"/>
                          </a:solidFill>
                        </a:defRPr>
                      </a:pPr>
                      <a:r>
                        <a:t>Model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DINOv2 + Style + 2D-FFT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512-d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Test adding frequency grid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66534"/>
                          </a:solidFill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66534"/>
                          </a:solidFill>
                        </a:defRPr>
                      </a:pPr>
                      <a:r>
                        <a:t>Full Multi-Branch Fused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66534"/>
                          </a:solidFill>
                        </a:defRPr>
                      </a:pPr>
                      <a:r>
                        <a:t>576-d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66534"/>
                          </a:solidFill>
                        </a:defRPr>
                      </a:pPr>
                      <a:r>
                        <a:t>Our complete 4-domain forensic model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REAL VS. SYNTHETIC EVALUATION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Experimental Results: CIFAKE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217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ResNet-18 (CNN)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87.50%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0.8749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Baseline (DINOv2)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92.75%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0.9275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Model A (Noise)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63.00%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0.6297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Model B (+Style)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93.00%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0.9300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Model C (+FFT)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92.00%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E293B"/>
                          </a:solidFill>
                        </a:defRPr>
                      </a:pPr>
                      <a:r>
                        <a:t>0.9200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66534"/>
                          </a:solidFill>
                        </a:defRPr>
                      </a:pPr>
                      <a:r>
                        <a:t>Proposed (All)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66534"/>
                          </a:solidFill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66534"/>
                          </a:solidFill>
                        </a:defRPr>
                      </a:pPr>
                      <a:r>
                        <a:t>94.00%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66534"/>
                          </a:solidFill>
                        </a:defRPr>
                      </a:pPr>
                      <a:r>
                        <a:t>0.9400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223760" y="1554480"/>
            <a:ext cx="42062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9"/>
                </a:solidFill>
              </a:defRPr>
            </a:pPr>
            <a:r>
              <a:t>Key Insights: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2563EB"/>
                </a:solidFill>
              </a:rPr>
              <a:t>✔ Proposed Model Wins: </a:t>
            </a:r>
            <a:r>
              <a:rPr sz="1300">
                <a:solidFill>
                  <a:srgbClr val="1E293B"/>
                </a:solidFill>
              </a:rPr>
              <a:t>94.00% accuracy (+6.50% higher than ResNet-18 baseline).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2563EB"/>
                </a:solidFill>
              </a:rPr>
              <a:t>✔ DINOv2 Superiority: </a:t>
            </a:r>
            <a:r>
              <a:rPr sz="1300">
                <a:solidFill>
                  <a:srgbClr val="1E293B"/>
                </a:solidFill>
              </a:rPr>
              <a:t>Semantic ViT tokens outperform traditional CNN pixels by +5.25%.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2563EB"/>
                </a:solidFill>
              </a:rPr>
              <a:t>✔ Noise Alone Fails: </a:t>
            </a:r>
            <a:r>
              <a:rPr sz="1300">
                <a:solidFill>
                  <a:srgbClr val="1E293B"/>
                </a:solidFill>
              </a:rPr>
              <a:t>Model A drops to 63.00%, proving pixel noise alone is vulnerable.</a:t>
            </a:r>
          </a:p>
          <a:p>
            <a:pPr>
              <a:spcBef>
                <a:spcPts val="1000"/>
              </a:spcBef>
            </a:pPr>
            <a:r>
              <a:rPr sz="1350" b="1">
                <a:solidFill>
                  <a:srgbClr val="2563EB"/>
                </a:solidFill>
              </a:rPr>
              <a:t>✔ Fusion Benefit: </a:t>
            </a:r>
            <a:r>
              <a:rPr sz="1300">
                <a:solidFill>
                  <a:srgbClr val="1E293B"/>
                </a:solidFill>
              </a:rPr>
              <a:t>Combining all 4 domains gives the highest detection consistency.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MULTI-GENERATOR BENCHMARK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Generator Attribution &amp; Open-Set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1. Multi-Generator Attribution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Tested across 5 image classes:</a:t>
            </a:r>
            <a:br/>
            <a:r>
              <a:t>• Real ImageNet, BigGAN, Midjourney v5,</a:t>
            </a:r>
            <a:br/>
            <a:r>
              <a:t>  Stable Diffusion v1.5, Wukong.</a:t>
            </a:r>
          </a:p>
          <a:p>
            <a:pPr>
              <a:spcBef>
                <a:spcPts val="1000"/>
              </a:spcBef>
              <a:defRPr sz="1400" b="1">
                <a:solidFill>
                  <a:srgbClr val="DC2626"/>
                </a:solidFill>
              </a:defRPr>
            </a:pPr>
            <a:r>
              <a:t>• ResNet-18 Baseline: 81.25% Accuracy</a:t>
            </a:r>
          </a:p>
          <a:p>
            <a:pPr>
              <a:spcBef>
                <a:spcPts val="600"/>
              </a:spcBef>
              <a:defRPr sz="1450" b="1">
                <a:solidFill>
                  <a:srgbClr val="166534"/>
                </a:solidFill>
              </a:defRPr>
            </a:pPr>
            <a:r>
              <a:t>• Proposed Fused Model: 96.88%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2. Open-Set 'Unknown' Detection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• Confidence Gate (tau = 50%): </a:t>
            </a:r>
            <a:r>
              <a:rPr sz="1350">
                <a:solidFill>
                  <a:srgbClr val="1E293B"/>
                </a:solidFill>
              </a:rPr>
              <a:t>Evaluates softmax probability. If confidence &lt; 0.50, flags sample as 'Unknown Generator'.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• Prevents False Attribution: </a:t>
            </a:r>
            <a:r>
              <a:rPr sz="1350">
                <a:solidFill>
                  <a:srgbClr val="1E293B"/>
                </a:solidFill>
              </a:rPr>
              <a:t>Protects against newly created AI tools not present in training data.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• Practical Safety: </a:t>
            </a:r>
            <a:r>
              <a:rPr sz="1350">
                <a:solidFill>
                  <a:srgbClr val="1E293B"/>
                </a:solidFill>
              </a:rPr>
              <a:t>Provides reliable alerts in real-world forensic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SUMMARY &amp; ROADMAP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9"/>
                </a:solidFill>
              </a:defRPr>
            </a:pPr>
            <a:r>
              <a:t>Conclusions: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✔  Multi-domain feature fusion outperforms ResNet-18 by +6.5% on detection and +15.6% on attribution.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✔  DINOv2 provides robust semantic embeddings resistant to generator shifts.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✔  Pixel noise alone fails, but adds vital forensic value when combined with style and FFT.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✔  Open-set attribution enables safe real-world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Future Work: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➜ Dynamic Attention Gating: </a:t>
            </a:r>
            <a:r>
              <a:rPr sz="1300">
                <a:solidFill>
                  <a:srgbClr val="1E293B"/>
                </a:solidFill>
              </a:rPr>
              <a:t>Adaptively weigh feature branches based on image quality.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➜ Social Media Compression: </a:t>
            </a:r>
            <a:r>
              <a:rPr sz="1300">
                <a:solidFill>
                  <a:srgbClr val="1E293B"/>
                </a:solidFill>
              </a:rPr>
              <a:t>Harden model against JPEG compression (WhatsApp, X/Twitter).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➜ Video Deepfake Extension: </a:t>
            </a:r>
            <a:r>
              <a:rPr sz="1300">
                <a:solidFill>
                  <a:srgbClr val="1E293B"/>
                </a:solidFill>
              </a:rPr>
              <a:t>Extend multi-branch extractors to video frame sequences.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82B49"/>
                </a:solidFill>
              </a:rPr>
              <a:t>➜ Visual Heatmap Explanations: </a:t>
            </a:r>
            <a:r>
              <a:rPr sz="1300">
                <a:solidFill>
                  <a:srgbClr val="1E293B"/>
                </a:solidFill>
              </a:rPr>
              <a:t>Add localization heatmaps to highlight exact fake regions.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BIBLIOGRAPHY</a:t>
            </a:r>
          </a:p>
          <a:p>
            <a:pPr>
              <a:spcBef>
                <a:spcPts val="300"/>
              </a:spcBef>
              <a:defRPr sz="2600" b="1">
                <a:solidFill>
                  <a:srgbClr val="182B49"/>
                </a:solidFill>
              </a:defRPr>
            </a:pPr>
            <a:r>
              <a:t>Key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1. Wang et al. (CVPR 2020) - 'CNN-generated images are surprisingly easy to spot... for now.'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2. Oquab et al. (2023) - 'DINOv2: Learning Robust Visual Features without Supervision.'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3. Frank et al. (ICML 2020) - 'Leveraging Frequency Analysis for Deep Fake Image Recognition.'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4. Bird &amp; Lotfi (IEEE Access 2023) - 'CIFAKE: Image Classification and Explainable Identification of AI Images.'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5. Zhu et al. (NeurIPS 2023) - 'GenImage: A Large-Scale Dataset for AI Image Detection and Attribution.'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93C5FD"/>
                </a:solidFill>
              </a:defRPr>
            </a:pPr>
            <a:r>
              <a:t>Questions &amp; Answers</a:t>
            </a:r>
          </a:p>
          <a:p>
            <a:pPr algn="ctr"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Major Project: Multi-Domain Forensic Feature Fusion for AI Image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1242</Words>
  <Application>Microsoft Office PowerPoint</Application>
  <PresentationFormat>Widescreen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Sairam Devarasetty</cp:lastModifiedBy>
  <cp:revision>1</cp:revision>
  <dcterms:created xsi:type="dcterms:W3CDTF">2013-01-27T09:14:16Z</dcterms:created>
  <dcterms:modified xsi:type="dcterms:W3CDTF">2026-09-14T17:08:21Z</dcterms:modified>
  <cp:category/>
</cp:coreProperties>
</file>